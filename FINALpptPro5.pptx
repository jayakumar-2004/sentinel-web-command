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Alice"/>
      <p:regular r:id="rId16"/>
    </p:embeddedFont>
    <p:embeddedFont>
      <p:font typeface="Alice Bold" pitchFamily="2" charset="0"/>
      <p:regular r:id="rId17"/>
    </p:embeddedFont>
    <p:embeddedFont>
      <p:font typeface="Alice Bold Italics" pitchFamily="2" charset="0"/>
      <p:regular r:id="rId18"/>
    </p:embeddedFont>
    <p:embeddedFont>
      <p:font typeface="Alice Italics"/>
      <p:regular r:id="rId19"/>
    </p:embeddedFont>
    <p:embeddedFont>
      <p:font typeface="Arial MT Pro" panose="020B0502020202020204" pitchFamily="34" charset="0"/>
      <p:regular r:id="rId20"/>
    </p:embeddedFont>
    <p:embeddedFont>
      <p:font typeface="Arial MT Pro Bold" panose="020B0802020202020204" pitchFamily="34" charset="0"/>
      <p:regular r:id="rId21"/>
    </p:embeddedFont>
    <p:embeddedFont>
      <p:font typeface="Canva Sans" panose="020B0503030501040103"/>
      <p:regular r:id="rId22"/>
    </p:embeddedFont>
    <p:embeddedFont>
      <p:font typeface="Canva Sans Bold" panose="020B0803030501040103"/>
      <p:regular r:id="rId23"/>
    </p:embeddedFont>
    <p:embeddedFont>
      <p:font typeface="Canva Sans Bold Italics" panose="020B0803030501040103"/>
      <p:regular r:id="rId24"/>
    </p:embeddedFont>
    <p:embeddedFont>
      <p:font typeface="Cooper Hewitt Bold" pitchFamily="2" charset="0"/>
      <p:regular r:id="rId25"/>
    </p:embeddedFont>
    <p:embeddedFont>
      <p:font typeface="Garamond Bold" panose="02020804030307010803"/>
      <p:regular r:id="rId26"/>
    </p:embeddedFont>
    <p:embeddedFont>
      <p:font typeface="Glacial Indifference Bold Italics" pitchFamily="2" charset="0"/>
      <p:regular r:id="rId27"/>
    </p:embeddedFont>
    <p:embeddedFont>
      <p:font typeface="Montserrat Bold Italics"/>
      <p:regular r:id="rId28"/>
    </p:embeddedFont>
    <p:embeddedFont>
      <p:font typeface="Poppins Bold Italics" pitchFamily="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3.fntdata" /><Relationship Id="rId26" Type="http://schemas.openxmlformats.org/officeDocument/2006/relationships/font" Target="fonts/font11.fntdata" /><Relationship Id="rId3" Type="http://schemas.openxmlformats.org/officeDocument/2006/relationships/slide" Target="slides/slide2.xml" /><Relationship Id="rId21" Type="http://schemas.openxmlformats.org/officeDocument/2006/relationships/font" Target="fonts/font6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2.fntdata" /><Relationship Id="rId25" Type="http://schemas.openxmlformats.org/officeDocument/2006/relationships/font" Target="fonts/font10.fntdata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font" Target="fonts/font1.fntdata" /><Relationship Id="rId20" Type="http://schemas.openxmlformats.org/officeDocument/2006/relationships/font" Target="fonts/font5.fntdata" /><Relationship Id="rId29" Type="http://schemas.openxmlformats.org/officeDocument/2006/relationships/font" Target="fonts/font1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9.fntdata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8.fntdata" /><Relationship Id="rId28" Type="http://schemas.openxmlformats.org/officeDocument/2006/relationships/font" Target="fonts/font13.fntdata" /><Relationship Id="rId10" Type="http://schemas.openxmlformats.org/officeDocument/2006/relationships/slide" Target="slides/slide9.xml" /><Relationship Id="rId19" Type="http://schemas.openxmlformats.org/officeDocument/2006/relationships/font" Target="fonts/font4.fntdata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7.fntdata" /><Relationship Id="rId27" Type="http://schemas.openxmlformats.org/officeDocument/2006/relationships/font" Target="fonts/font12.fntdata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Relationship Id="rId4" Type="http://schemas.openxmlformats.org/officeDocument/2006/relationships/hyperlink" Target="https://jayakumar-2004.github.io/Sentinel-Web-Command/" TargetMode="Externa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jpeg" /><Relationship Id="rId5" Type="http://schemas.openxmlformats.org/officeDocument/2006/relationships/image" Target="../media/image12.jpeg" /><Relationship Id="rId4" Type="http://schemas.openxmlformats.org/officeDocument/2006/relationships/image" Target="../media/image11.jpe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4855" y="-364285"/>
            <a:ext cx="20574000" cy="10651285"/>
          </a:xfrm>
          <a:custGeom>
            <a:avLst/>
            <a:gdLst/>
            <a:ahLst/>
            <a:cxnLst/>
            <a:rect l="l" t="t" r="r" b="b"/>
            <a:pathLst>
              <a:path w="20574000" h="10651285">
                <a:moveTo>
                  <a:pt x="0" y="0"/>
                </a:moveTo>
                <a:lnTo>
                  <a:pt x="20574000" y="0"/>
                </a:lnTo>
                <a:lnTo>
                  <a:pt x="20574000" y="10651285"/>
                </a:lnTo>
                <a:lnTo>
                  <a:pt x="0" y="1065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13" r="-1471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49917" y="529334"/>
            <a:ext cx="10569388" cy="3828707"/>
          </a:xfrm>
          <a:custGeom>
            <a:avLst/>
            <a:gdLst/>
            <a:ahLst/>
            <a:cxnLst/>
            <a:rect l="l" t="t" r="r" b="b"/>
            <a:pathLst>
              <a:path w="10569388" h="3828707">
                <a:moveTo>
                  <a:pt x="0" y="0"/>
                </a:moveTo>
                <a:lnTo>
                  <a:pt x="10569389" y="0"/>
                </a:lnTo>
                <a:lnTo>
                  <a:pt x="10569389" y="3828707"/>
                </a:lnTo>
                <a:lnTo>
                  <a:pt x="0" y="382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36839" y="4152049"/>
            <a:ext cx="9214321" cy="161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</a:pPr>
            <a:r>
              <a:rPr lang="en-US" sz="9399" b="1" dirty="0">
                <a:solidFill>
                  <a:srgbClr val="FF3131"/>
                </a:solidFill>
                <a:latin typeface="Garamond Bold"/>
                <a:ea typeface="Garamond Bold"/>
                <a:cs typeface="Garamond Bold"/>
                <a:sym typeface="Garamond Bold"/>
              </a:rPr>
              <a:t>6</a:t>
            </a:r>
            <a:r>
              <a:rPr lang="en-IN" sz="9399" b="1" baseline="30000" dirty="0" err="1">
                <a:solidFill>
                  <a:srgbClr val="FF3131"/>
                </a:solidFill>
                <a:latin typeface="Garamond Bold"/>
                <a:ea typeface="Garamond Bold"/>
                <a:cs typeface="Garamond Bold"/>
                <a:sym typeface="Garamond Bold"/>
              </a:rPr>
              <a:t>th</a:t>
            </a:r>
            <a:r>
              <a:rPr lang="en-IN" sz="9399" b="1" dirty="0">
                <a:solidFill>
                  <a:srgbClr val="FF3131"/>
                </a:solidFill>
                <a:latin typeface="Garamond Bold"/>
                <a:ea typeface="Garamond Bold"/>
                <a:cs typeface="Garamond Bold"/>
                <a:sym typeface="Garamond Bold"/>
              </a:rPr>
              <a:t> </a:t>
            </a:r>
            <a:r>
              <a:rPr lang="en-US" sz="9399" b="1" dirty="0">
                <a:solidFill>
                  <a:srgbClr val="FF3131"/>
                </a:solidFill>
                <a:latin typeface="Garamond Bold"/>
                <a:ea typeface="Garamond Bold"/>
                <a:cs typeface="Garamond Bold"/>
                <a:sym typeface="Garamond Bold"/>
              </a:rPr>
              <a:t> SEMESTER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9979" y="4829915"/>
            <a:ext cx="15698912" cy="498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60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DEPARTMENT</a:t>
            </a:r>
          </a:p>
          <a:p>
            <a:pPr algn="ctr">
              <a:lnSpc>
                <a:spcPts val="13579"/>
              </a:lnSpc>
            </a:pPr>
            <a:r>
              <a:rPr lang="en-US" sz="60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OF</a:t>
            </a:r>
            <a:endParaRPr lang="en-IN" sz="60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ctr">
              <a:lnSpc>
                <a:spcPts val="13579"/>
              </a:lnSpc>
            </a:pPr>
            <a:r>
              <a:rPr lang="en-US" sz="60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953" y="-494905"/>
            <a:ext cx="18790865" cy="5638405"/>
            <a:chOff x="0" y="0"/>
            <a:chExt cx="1843552" cy="5531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3552" cy="553178"/>
            </a:xfrm>
            <a:custGeom>
              <a:avLst/>
              <a:gdLst/>
              <a:ahLst/>
              <a:cxnLst/>
              <a:rect l="l" t="t" r="r" b="b"/>
              <a:pathLst>
                <a:path w="1843552" h="553178">
                  <a:moveTo>
                    <a:pt x="0" y="0"/>
                  </a:moveTo>
                  <a:lnTo>
                    <a:pt x="1843552" y="0"/>
                  </a:lnTo>
                  <a:lnTo>
                    <a:pt x="1843552" y="553178"/>
                  </a:lnTo>
                  <a:lnTo>
                    <a:pt x="0" y="553178"/>
                  </a:lnTo>
                  <a:close/>
                </a:path>
              </a:pathLst>
            </a:custGeom>
            <a:blipFill>
              <a:blip r:embed="rId2"/>
              <a:stretch>
                <a:fillRect l="-10012" r="-1001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370953" y="5143501"/>
            <a:ext cx="9395432" cy="5143500"/>
            <a:chOff x="0" y="0"/>
            <a:chExt cx="607946" cy="4952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7946" cy="495262"/>
            </a:xfrm>
            <a:custGeom>
              <a:avLst/>
              <a:gdLst/>
              <a:ahLst/>
              <a:cxnLst/>
              <a:rect l="l" t="t" r="r" b="b"/>
              <a:pathLst>
                <a:path w="607946" h="495262">
                  <a:moveTo>
                    <a:pt x="0" y="0"/>
                  </a:moveTo>
                  <a:lnTo>
                    <a:pt x="607946" y="0"/>
                  </a:lnTo>
                  <a:lnTo>
                    <a:pt x="607946" y="495262"/>
                  </a:lnTo>
                  <a:lnTo>
                    <a:pt x="0" y="495262"/>
                  </a:lnTo>
                  <a:close/>
                </a:path>
              </a:pathLst>
            </a:custGeom>
            <a:blipFill>
              <a:blip r:embed="rId3"/>
              <a:stretch>
                <a:fillRect t="-11376" b="-1137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024480" y="5143501"/>
            <a:ext cx="9395432" cy="5143500"/>
            <a:chOff x="0" y="0"/>
            <a:chExt cx="558245" cy="3264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8245" cy="326418"/>
            </a:xfrm>
            <a:custGeom>
              <a:avLst/>
              <a:gdLst/>
              <a:ahLst/>
              <a:cxnLst/>
              <a:rect l="l" t="t" r="r" b="b"/>
              <a:pathLst>
                <a:path w="558245" h="326418">
                  <a:moveTo>
                    <a:pt x="0" y="0"/>
                  </a:moveTo>
                  <a:lnTo>
                    <a:pt x="558245" y="0"/>
                  </a:lnTo>
                  <a:lnTo>
                    <a:pt x="558245" y="326418"/>
                  </a:lnTo>
                  <a:lnTo>
                    <a:pt x="0" y="326418"/>
                  </a:lnTo>
                  <a:close/>
                </a:path>
              </a:pathLst>
            </a:custGeom>
            <a:blipFill>
              <a:blip r:embed="rId4"/>
              <a:stretch>
                <a:fillRect l="-1141" r="-114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05641" y="82968"/>
            <a:ext cx="15437677" cy="490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5"/>
              </a:lnSpc>
            </a:pPr>
            <a:r>
              <a:rPr lang="en-US" sz="6946" i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Alice Italics"/>
                <a:ea typeface="Alice Italics"/>
                <a:cs typeface="Alice Italics"/>
                <a:sym typeface="Alice Italics"/>
              </a:rPr>
              <a:t>PRESENTING OUR PROJECT TO ALL </a:t>
            </a:r>
          </a:p>
          <a:p>
            <a:pPr algn="ctr">
              <a:lnSpc>
                <a:spcPts val="9725"/>
              </a:lnSpc>
            </a:pPr>
            <a:r>
              <a:rPr lang="en-US" sz="6946" i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Alice Italics"/>
                <a:ea typeface="Alice Italics"/>
                <a:cs typeface="Alice Italics"/>
                <a:sym typeface="Alice Italics"/>
              </a:rPr>
              <a:t>GUIDES AND HOD </a:t>
            </a:r>
          </a:p>
          <a:p>
            <a:pPr algn="ctr">
              <a:lnSpc>
                <a:spcPts val="9725"/>
              </a:lnSpc>
            </a:pPr>
            <a:endParaRPr lang="en-US" sz="6946" i="1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Alice Italics"/>
              <a:ea typeface="Alice Italics"/>
              <a:cs typeface="Alice Italics"/>
              <a:sym typeface="Alice Italics"/>
            </a:endParaRPr>
          </a:p>
          <a:p>
            <a:pPr algn="ctr">
              <a:lnSpc>
                <a:spcPts val="9725"/>
              </a:lnSpc>
            </a:pPr>
            <a:r>
              <a:rPr lang="en-US" sz="6946" i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Alice Italics"/>
                <a:ea typeface="Alice Italics"/>
                <a:cs typeface="Alice Italics"/>
                <a:sym typeface="Alice Italics"/>
              </a:rPr>
              <a:t>PROJECT TITLE:- RAKSHA SURAKSHA</a:t>
            </a:r>
          </a:p>
        </p:txBody>
      </p:sp>
      <p:sp>
        <p:nvSpPr>
          <p:cNvPr id="9" name="TextBox 9"/>
          <p:cNvSpPr txBox="1"/>
          <p:nvPr/>
        </p:nvSpPr>
        <p:spPr>
          <a:xfrm rot="-1110664">
            <a:off x="9912929" y="5605946"/>
            <a:ext cx="8003079" cy="447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0"/>
              </a:lnSpc>
            </a:pPr>
            <a:r>
              <a:rPr lang="en-US" sz="5079" b="1" i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PROJECT GUIDE:- JERIN SIR</a:t>
            </a:r>
          </a:p>
          <a:p>
            <a:pPr algn="ctr">
              <a:lnSpc>
                <a:spcPts val="7110"/>
              </a:lnSpc>
            </a:pPr>
            <a:endParaRPr lang="en-US" sz="5079" b="1" i="1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00BF63">
                      <a:alpha val="100000"/>
                    </a:srgbClr>
                  </a:gs>
                </a:gsLst>
                <a:lin ang="0"/>
              </a:gra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  <a:p>
            <a:pPr algn="ctr">
              <a:lnSpc>
                <a:spcPts val="7110"/>
              </a:lnSpc>
            </a:pPr>
            <a:r>
              <a:rPr lang="en-US" sz="5079" b="1" i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HOD :- NAGA SUMA MA’AM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141" y="6202208"/>
            <a:ext cx="7779664" cy="5047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0"/>
              </a:lnSpc>
            </a:pPr>
            <a:r>
              <a:rPr lang="en-US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MD ASLA</a:t>
            </a:r>
            <a:r>
              <a:rPr lang="en-IN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M </a:t>
            </a:r>
            <a:r>
              <a:rPr lang="en-US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ANSARI</a:t>
            </a:r>
          </a:p>
          <a:p>
            <a:pPr>
              <a:lnSpc>
                <a:spcPts val="6580"/>
              </a:lnSpc>
            </a:pPr>
            <a:r>
              <a:rPr lang="en-US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SURYAKANT</a:t>
            </a:r>
            <a:r>
              <a:rPr lang="en-IN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 CHAUDARY</a:t>
            </a:r>
          </a:p>
          <a:p>
            <a:pPr>
              <a:lnSpc>
                <a:spcPts val="6580"/>
              </a:lnSpc>
            </a:pPr>
            <a:r>
              <a:rPr lang="en-IN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S JAYA KUMAR</a:t>
            </a:r>
          </a:p>
          <a:p>
            <a:pPr>
              <a:lnSpc>
                <a:spcPts val="6580"/>
              </a:lnSpc>
            </a:pPr>
            <a:r>
              <a:rPr lang="en-IN" sz="4700" b="1" dirty="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ABHISHEK</a:t>
            </a:r>
          </a:p>
          <a:p>
            <a:pPr>
              <a:lnSpc>
                <a:spcPts val="6580"/>
              </a:lnSpc>
            </a:pPr>
            <a:endParaRPr lang="en-IN" sz="4700" b="1" dirty="0">
              <a:gradFill>
                <a:gsLst>
                  <a:gs pos="0">
                    <a:srgbClr val="7B2D9F">
                      <a:alpha val="100000"/>
                    </a:srgbClr>
                  </a:gs>
                  <a:gs pos="100000">
                    <a:srgbClr val="FDD82E">
                      <a:alpha val="100000"/>
                    </a:srgbClr>
                  </a:gs>
                </a:gsLst>
                <a:lin ang="5400000"/>
              </a:gra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>
              <a:lnSpc>
                <a:spcPts val="6580"/>
              </a:lnSpc>
            </a:pPr>
            <a:endParaRPr lang="en-US" sz="4700" b="1" dirty="0">
              <a:gradFill>
                <a:gsLst>
                  <a:gs pos="0">
                    <a:srgbClr val="7B2D9F">
                      <a:alpha val="100000"/>
                    </a:srgbClr>
                  </a:gs>
                  <a:gs pos="100000">
                    <a:srgbClr val="FDD82E">
                      <a:alpha val="100000"/>
                    </a:srgbClr>
                  </a:gs>
                </a:gsLst>
                <a:lin ang="5400000"/>
              </a:gra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9467" y="4990001"/>
            <a:ext cx="7395121" cy="134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 i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Poppins Bold Italics"/>
                <a:ea typeface="Poppins Bold Italics"/>
                <a:cs typeface="Poppins Bold Italics"/>
                <a:sym typeface="Poppins Bold Italics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bstract Geometric Background 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8953500"/>
            <a:chOff x="0" y="0"/>
            <a:chExt cx="658032" cy="8555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58032" cy="855533"/>
            </a:xfrm>
            <a:custGeom>
              <a:avLst/>
              <a:gdLst/>
              <a:ahLst/>
              <a:cxnLst/>
              <a:rect l="l" t="t" r="r" b="b"/>
              <a:pathLst>
                <a:path w="658032" h="855533">
                  <a:moveTo>
                    <a:pt x="22484" y="0"/>
                  </a:moveTo>
                  <a:lnTo>
                    <a:pt x="635548" y="0"/>
                  </a:lnTo>
                  <a:cubicBezTo>
                    <a:pt x="647965" y="0"/>
                    <a:pt x="658032" y="10066"/>
                    <a:pt x="658032" y="22484"/>
                  </a:cubicBezTo>
                  <a:lnTo>
                    <a:pt x="658032" y="833048"/>
                  </a:lnTo>
                  <a:cubicBezTo>
                    <a:pt x="658032" y="845466"/>
                    <a:pt x="647965" y="855533"/>
                    <a:pt x="635548" y="855533"/>
                  </a:cubicBezTo>
                  <a:lnTo>
                    <a:pt x="22484" y="855533"/>
                  </a:lnTo>
                  <a:cubicBezTo>
                    <a:pt x="10066" y="855533"/>
                    <a:pt x="0" y="845466"/>
                    <a:pt x="0" y="833048"/>
                  </a:cubicBezTo>
                  <a:lnTo>
                    <a:pt x="0" y="22484"/>
                  </a:lnTo>
                  <a:cubicBezTo>
                    <a:pt x="0" y="10066"/>
                    <a:pt x="10066" y="0"/>
                    <a:pt x="22484" y="0"/>
                  </a:cubicBezTo>
                  <a:close/>
                </a:path>
              </a:pathLst>
            </a:custGeom>
            <a:blipFill>
              <a:blip r:embed="rId3"/>
              <a:stretch>
                <a:fillRect t="-31176" b="-3117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339591" y="666750"/>
            <a:ext cx="6309062" cy="2419350"/>
            <a:chOff x="0" y="0"/>
            <a:chExt cx="1661646" cy="6371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1646" cy="637195"/>
            </a:xfrm>
            <a:custGeom>
              <a:avLst/>
              <a:gdLst/>
              <a:ahLst/>
              <a:cxnLst/>
              <a:rect l="l" t="t" r="r" b="b"/>
              <a:pathLst>
                <a:path w="1661646" h="637195">
                  <a:moveTo>
                    <a:pt x="62583" y="0"/>
                  </a:moveTo>
                  <a:lnTo>
                    <a:pt x="1599063" y="0"/>
                  </a:lnTo>
                  <a:cubicBezTo>
                    <a:pt x="1633627" y="0"/>
                    <a:pt x="1661646" y="28019"/>
                    <a:pt x="1661646" y="62583"/>
                  </a:cubicBezTo>
                  <a:lnTo>
                    <a:pt x="1661646" y="574612"/>
                  </a:lnTo>
                  <a:cubicBezTo>
                    <a:pt x="1661646" y="591210"/>
                    <a:pt x="1655052" y="607128"/>
                    <a:pt x="1643316" y="618865"/>
                  </a:cubicBezTo>
                  <a:cubicBezTo>
                    <a:pt x="1631579" y="630602"/>
                    <a:pt x="1615661" y="637195"/>
                    <a:pt x="1599063" y="637195"/>
                  </a:cubicBezTo>
                  <a:lnTo>
                    <a:pt x="62583" y="637195"/>
                  </a:lnTo>
                  <a:cubicBezTo>
                    <a:pt x="45985" y="637195"/>
                    <a:pt x="30067" y="630602"/>
                    <a:pt x="18330" y="618865"/>
                  </a:cubicBezTo>
                  <a:cubicBezTo>
                    <a:pt x="6594" y="607128"/>
                    <a:pt x="0" y="591210"/>
                    <a:pt x="0" y="574612"/>
                  </a:cubicBezTo>
                  <a:lnTo>
                    <a:pt x="0" y="62583"/>
                  </a:lnTo>
                  <a:cubicBezTo>
                    <a:pt x="0" y="45985"/>
                    <a:pt x="6594" y="30067"/>
                    <a:pt x="18330" y="18330"/>
                  </a:cubicBezTo>
                  <a:cubicBezTo>
                    <a:pt x="30067" y="6594"/>
                    <a:pt x="45985" y="0"/>
                    <a:pt x="625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50000"/>
                  </a:srgbClr>
                </a:gs>
                <a:gs pos="100000">
                  <a:srgbClr val="FFDE59">
                    <a:alpha val="5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61646" cy="675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0902" y="536485"/>
            <a:ext cx="9118305" cy="6285480"/>
            <a:chOff x="-581195" y="0"/>
            <a:chExt cx="12157741" cy="8380640"/>
          </a:xfrm>
        </p:grpSpPr>
        <p:sp>
          <p:nvSpPr>
            <p:cNvPr id="9" name="TextBox 9"/>
            <p:cNvSpPr txBox="1"/>
            <p:nvPr/>
          </p:nvSpPr>
          <p:spPr>
            <a:xfrm>
              <a:off x="1087438" y="0"/>
              <a:ext cx="10489108" cy="3568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62"/>
                </a:lnSpc>
              </a:pPr>
              <a:r>
                <a:rPr lang="en-US" sz="880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RAKSHA</a:t>
              </a:r>
            </a:p>
            <a:p>
              <a:pPr marL="0" lvl="0" indent="0" algn="ctr">
                <a:lnSpc>
                  <a:spcPts val="10562"/>
                </a:lnSpc>
                <a:spcBef>
                  <a:spcPct val="0"/>
                </a:spcBef>
              </a:pPr>
              <a:r>
                <a:rPr lang="en-US" sz="880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SURAKSHA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581195" y="4283927"/>
              <a:ext cx="9948274" cy="7828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900"/>
                </a:lnSpc>
                <a:spcBef>
                  <a:spcPct val="0"/>
                </a:spcBef>
              </a:pPr>
              <a:r>
                <a:rPr lang="en-IN" sz="35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Base  </a:t>
              </a:r>
              <a:r>
                <a:rPr lang="en-US" sz="35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 SIZE :- 30 </a:t>
              </a:r>
              <a:r>
                <a:rPr lang="en-IN" sz="35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MB</a:t>
              </a:r>
              <a:r>
                <a:rPr lang="en-US" sz="35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to 50 </a:t>
              </a:r>
              <a:r>
                <a:rPr lang="en-IN" sz="35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MB</a:t>
              </a:r>
              <a:endPara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933263"/>
              <a:ext cx="8115370" cy="1447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Our Website access link:-   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jayakumar-2004.github.io/Sentinel-Web-Command/"/>
                </a:rPr>
                <a:t>Rakshasuraksha.github.io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0902" y="6932202"/>
            <a:ext cx="8648653" cy="239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website google search console:- </a:t>
            </a:r>
            <a:r>
              <a:rPr lang="en-US" sz="4599" b="1" dirty="0" err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Raksha</a:t>
            </a:r>
            <a:r>
              <a:rPr lang="en-US" sz="4599" b="1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Suraksha Advanced </a:t>
            </a:r>
            <a:r>
              <a:rPr lang="en-IN" sz="4599" b="1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Anti-Theft</a:t>
            </a:r>
            <a:r>
              <a:rPr lang="en-US" sz="4599" b="1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IN" sz="4599" b="1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sz="4599" b="1" dirty="0" err="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afety</a:t>
            </a:r>
            <a:endParaRPr lang="en-US" sz="4599" b="1" dirty="0">
              <a:gradFill>
                <a:gsLst>
                  <a:gs pos="0">
                    <a:srgbClr val="FF5757">
                      <a:alpha val="100000"/>
                    </a:srgbClr>
                  </a:gs>
                  <a:gs pos="100000">
                    <a:srgbClr val="8C52FF">
                      <a:alpha val="100000"/>
                    </a:srgbClr>
                  </a:gs>
                </a:gsLst>
                <a:lin ang="0"/>
              </a:gra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3406" y="4561716"/>
            <a:ext cx="8560594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APP INSIDE DOWNLOADABLE SIZE:- PER OFFLINE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zone map 500-700 </a:t>
            </a:r>
            <a:r>
              <a:rPr lang="en-US" sz="29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mb</a:t>
            </a:r>
            <a:endParaRPr lang="en-US" sz="29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sp>
        <p:nvSpPr>
          <p:cNvPr id="3" name="TextBox 3"/>
          <p:cNvSpPr txBox="1"/>
          <p:nvPr/>
        </p:nvSpPr>
        <p:spPr>
          <a:xfrm rot="10800000" flipV="1">
            <a:off x="4496454" y="305795"/>
            <a:ext cx="8349872" cy="1026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</a:t>
            </a:r>
            <a:endParaRPr lang="en-US" sz="6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01109" y="2110105"/>
            <a:ext cx="17786891" cy="739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Core Objective:  To develop a military-grade personal safety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Android application using a 3-Tier security architecture.</a:t>
            </a:r>
          </a:p>
          <a:p>
            <a:pPr algn="l">
              <a:lnSpc>
                <a:spcPts val="5880"/>
              </a:lnSpc>
            </a:pPr>
            <a:endParaRPr lang="en-US" sz="4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​2) Methodology:  The system utilizes background accessibility 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services, native SmsManager APIs, and offline SQLite Vaults to bypass traditional internet constraints.</a:t>
            </a:r>
          </a:p>
          <a:p>
            <a:pPr algn="l">
              <a:lnSpc>
                <a:spcPts val="5880"/>
              </a:lnSpc>
            </a:pPr>
            <a:endParaRPr lang="en-US" sz="4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​3) Outcome:  A robust mobile command center capable of 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silently tracking stolen devices, overriding silent profiles for SOS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routing off-grid tactical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2300" y="70689"/>
            <a:ext cx="18999064" cy="10190898"/>
          </a:xfrm>
          <a:custGeom>
            <a:avLst/>
            <a:gdLst/>
            <a:ahLst/>
            <a:cxnLst/>
            <a:rect l="l" t="t" r="r" b="b"/>
            <a:pathLst>
              <a:path w="18999064" h="12667400">
                <a:moveTo>
                  <a:pt x="0" y="0"/>
                </a:moveTo>
                <a:lnTo>
                  <a:pt x="18999064" y="0"/>
                </a:lnTo>
                <a:lnTo>
                  <a:pt x="18999064" y="12667401"/>
                </a:lnTo>
                <a:lnTo>
                  <a:pt x="0" y="1266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3585" b="-3585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>
            <a:off x="246316" y="1201247"/>
            <a:ext cx="8915320" cy="9060340"/>
            <a:chOff x="-107762" y="-38100"/>
            <a:chExt cx="2289543" cy="2144569"/>
          </a:xfrm>
        </p:grpSpPr>
        <p:sp>
          <p:nvSpPr>
            <p:cNvPr id="6" name="Freeform 6"/>
            <p:cNvSpPr/>
            <p:nvPr/>
          </p:nvSpPr>
          <p:spPr>
            <a:xfrm>
              <a:off x="-107762" y="-21670"/>
              <a:ext cx="2181781" cy="2106469"/>
            </a:xfrm>
            <a:custGeom>
              <a:avLst/>
              <a:gdLst/>
              <a:ahLst/>
              <a:cxnLst/>
              <a:rect l="l" t="t" r="r" b="b"/>
              <a:pathLst>
                <a:path w="2181781" h="2106469">
                  <a:moveTo>
                    <a:pt x="47663" y="0"/>
                  </a:moveTo>
                  <a:lnTo>
                    <a:pt x="2134118" y="0"/>
                  </a:lnTo>
                  <a:cubicBezTo>
                    <a:pt x="2146759" y="0"/>
                    <a:pt x="2158882" y="5022"/>
                    <a:pt x="2167821" y="13960"/>
                  </a:cubicBezTo>
                  <a:cubicBezTo>
                    <a:pt x="2176759" y="22899"/>
                    <a:pt x="2181781" y="35022"/>
                    <a:pt x="2181781" y="47663"/>
                  </a:cubicBezTo>
                  <a:lnTo>
                    <a:pt x="2181781" y="2058806"/>
                  </a:lnTo>
                  <a:cubicBezTo>
                    <a:pt x="2181781" y="2071447"/>
                    <a:pt x="2176759" y="2083570"/>
                    <a:pt x="2167821" y="2092509"/>
                  </a:cubicBezTo>
                  <a:cubicBezTo>
                    <a:pt x="2158882" y="2101448"/>
                    <a:pt x="2146759" y="2106469"/>
                    <a:pt x="2134118" y="2106469"/>
                  </a:cubicBezTo>
                  <a:lnTo>
                    <a:pt x="47663" y="2106469"/>
                  </a:lnTo>
                  <a:cubicBezTo>
                    <a:pt x="35022" y="2106469"/>
                    <a:pt x="22899" y="2101448"/>
                    <a:pt x="13960" y="2092509"/>
                  </a:cubicBezTo>
                  <a:cubicBezTo>
                    <a:pt x="5022" y="2083570"/>
                    <a:pt x="0" y="2071447"/>
                    <a:pt x="0" y="2058806"/>
                  </a:cubicBezTo>
                  <a:lnTo>
                    <a:pt x="0" y="47663"/>
                  </a:lnTo>
                  <a:cubicBezTo>
                    <a:pt x="0" y="35022"/>
                    <a:pt x="5022" y="22899"/>
                    <a:pt x="13960" y="13960"/>
                  </a:cubicBezTo>
                  <a:cubicBezTo>
                    <a:pt x="22899" y="5022"/>
                    <a:pt x="35022" y="0"/>
                    <a:pt x="47663" y="0"/>
                  </a:cubicBezTo>
                  <a:close/>
                </a:path>
              </a:pathLst>
            </a:custGeom>
            <a:solidFill>
              <a:srgbClr val="DFDE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81781" cy="2144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6125" y="2470442"/>
            <a:ext cx="891532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-&gt;Platform: Android Smartphone 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(Android 8.0 Oreo or higher).​</a:t>
            </a:r>
          </a:p>
          <a:p>
            <a:pPr algn="l">
              <a:lnSpc>
                <a:spcPts val="3640"/>
              </a:lnSpc>
            </a:pPr>
            <a:endParaRPr lang="en-US" sz="36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-&gt;Memory (RAM/ROM): Minimum 2GB RAM. App 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size is ~50MB (ROM), plus ~700MB for 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Offline Tactical Map Pack.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​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-&gt;Core Sensors: GPS Hardware 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(Tracking), Accelerometer/Gravity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Sensor (Crash Detection), Camera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(Intruder Capture).</a:t>
            </a:r>
          </a:p>
          <a:p>
            <a:pPr algn="l">
              <a:lnSpc>
                <a:spcPts val="3640"/>
              </a:lnSpc>
            </a:pPr>
            <a:endParaRPr lang="en-US" sz="36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​-&gt;Connectivity: Active SIM Card</a:t>
            </a:r>
          </a:p>
          <a:p>
            <a:pPr algn="l">
              <a:lnSpc>
                <a:spcPts val="3640"/>
              </a:lnSpc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(Mandatory for offline SMS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/Telephony overrides).</a:t>
            </a:r>
          </a:p>
        </p:txBody>
      </p:sp>
      <p:sp>
        <p:nvSpPr>
          <p:cNvPr id="10" name="TextBox 10"/>
          <p:cNvSpPr txBox="1"/>
          <p:nvPr/>
        </p:nvSpPr>
        <p:spPr>
          <a:xfrm rot="10800000" flipV="1">
            <a:off x="-1483070" y="1212336"/>
            <a:ext cx="11215171" cy="767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IN" sz="4599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</a:t>
            </a:r>
            <a:endParaRPr lang="en-US" sz="4599" b="1" dirty="0">
              <a:solidFill>
                <a:srgbClr val="FF313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A54E8B43-2D63-E000-7566-2D9DCCED49D3}"/>
              </a:ext>
            </a:extLst>
          </p:cNvPr>
          <p:cNvGrpSpPr/>
          <p:nvPr/>
        </p:nvGrpSpPr>
        <p:grpSpPr>
          <a:xfrm>
            <a:off x="8951826" y="1086351"/>
            <a:ext cx="8880049" cy="9127989"/>
            <a:chOff x="0" y="-38100"/>
            <a:chExt cx="2181781" cy="2144569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E035147C-D6AE-560D-60E4-1B5EE6AF1073}"/>
                </a:ext>
              </a:extLst>
            </p:cNvPr>
            <p:cNvSpPr/>
            <p:nvPr/>
          </p:nvSpPr>
          <p:spPr>
            <a:xfrm>
              <a:off x="0" y="0"/>
              <a:ext cx="2181781" cy="2106469"/>
            </a:xfrm>
            <a:custGeom>
              <a:avLst/>
              <a:gdLst/>
              <a:ahLst/>
              <a:cxnLst/>
              <a:rect l="l" t="t" r="r" b="b"/>
              <a:pathLst>
                <a:path w="2181781" h="2106469">
                  <a:moveTo>
                    <a:pt x="47663" y="0"/>
                  </a:moveTo>
                  <a:lnTo>
                    <a:pt x="2134118" y="0"/>
                  </a:lnTo>
                  <a:cubicBezTo>
                    <a:pt x="2146759" y="0"/>
                    <a:pt x="2158882" y="5022"/>
                    <a:pt x="2167821" y="13960"/>
                  </a:cubicBezTo>
                  <a:cubicBezTo>
                    <a:pt x="2176759" y="22899"/>
                    <a:pt x="2181781" y="35022"/>
                    <a:pt x="2181781" y="47663"/>
                  </a:cubicBezTo>
                  <a:lnTo>
                    <a:pt x="2181781" y="2058806"/>
                  </a:lnTo>
                  <a:cubicBezTo>
                    <a:pt x="2181781" y="2071447"/>
                    <a:pt x="2176759" y="2083570"/>
                    <a:pt x="2167821" y="2092509"/>
                  </a:cubicBezTo>
                  <a:cubicBezTo>
                    <a:pt x="2158882" y="2101448"/>
                    <a:pt x="2146759" y="2106469"/>
                    <a:pt x="2134118" y="2106469"/>
                  </a:cubicBezTo>
                  <a:lnTo>
                    <a:pt x="47663" y="2106469"/>
                  </a:lnTo>
                  <a:cubicBezTo>
                    <a:pt x="35022" y="2106469"/>
                    <a:pt x="22899" y="2101448"/>
                    <a:pt x="13960" y="2092509"/>
                  </a:cubicBezTo>
                  <a:cubicBezTo>
                    <a:pt x="5022" y="2083570"/>
                    <a:pt x="0" y="2071447"/>
                    <a:pt x="0" y="2058806"/>
                  </a:cubicBezTo>
                  <a:lnTo>
                    <a:pt x="0" y="47663"/>
                  </a:lnTo>
                  <a:cubicBezTo>
                    <a:pt x="0" y="35022"/>
                    <a:pt x="5022" y="22899"/>
                    <a:pt x="13960" y="13960"/>
                  </a:cubicBezTo>
                  <a:cubicBezTo>
                    <a:pt x="22899" y="5022"/>
                    <a:pt x="35022" y="0"/>
                    <a:pt x="47663" y="0"/>
                  </a:cubicBezTo>
                  <a:close/>
                </a:path>
              </a:pathLst>
            </a:custGeom>
            <a:solidFill>
              <a:srgbClr val="DFDEFF"/>
            </a:solidFill>
          </p:spPr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BB5EB93C-1D5D-9D52-F318-7662C89349E4}"/>
                </a:ext>
              </a:extLst>
            </p:cNvPr>
            <p:cNvSpPr txBox="1"/>
            <p:nvPr/>
          </p:nvSpPr>
          <p:spPr>
            <a:xfrm>
              <a:off x="0" y="-38100"/>
              <a:ext cx="2181781" cy="2144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217208" y="1201247"/>
            <a:ext cx="4452574" cy="767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</a:t>
            </a:r>
            <a:r>
              <a:rPr lang="en-IN" sz="4599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4599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2030930"/>
            <a:ext cx="8556437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-&gt;Languages: Native Java (Backend Logic)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XML (Frontend UI), HTML5/CSS3</a:t>
            </a: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(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Web Command Hub).</a:t>
            </a:r>
            <a:endParaRPr lang="en-IN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​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&gt;Background: 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AccessibilityService</a:t>
            </a: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(F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ake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UI Overlay), 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BroadcastReceivers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(B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oot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/SIM Detection).​</a:t>
            </a:r>
            <a:endParaRPr lang="en-IN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Databases: Firebase (Real-time 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auth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, cloud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S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torage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) &amp; SQLite (On-device Offline 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    </a:t>
            </a:r>
            <a:r>
              <a:rPr lang="en-IN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Ev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idence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v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ault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).</a:t>
            </a:r>
            <a:endParaRPr lang="en-IN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marL="571500" indent="-571500" algn="l">
              <a:lnSpc>
                <a:spcPts val="3640"/>
              </a:lnSpc>
              <a:buFontTx/>
              <a:buChar char="-"/>
            </a:pP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</a:pP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​-&gt;Algorithms: Continuous Background Polling 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(G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host Tracker) &amp; Vector-based Fall 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l">
              <a:lnSpc>
                <a:spcPts val="3640"/>
              </a:lnSpc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  Detection and OSM Offline tiles</a:t>
            </a:r>
          </a:p>
          <a:p>
            <a:pPr algn="l">
              <a:lnSpc>
                <a:spcPts val="3640"/>
              </a:lnSpc>
            </a:pP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-&gt;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Dev Environment: 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AndroidIDE</a:t>
            </a:r>
            <a:r>
              <a:rPr lang="en-US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/ Android </a:t>
            </a:r>
            <a:endParaRPr lang="en-IN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      </a:t>
            </a:r>
            <a:r>
              <a:rPr lang="en-US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Studi</a:t>
            </a:r>
            <a:r>
              <a:rPr lang="en-IN" sz="3200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 and </a:t>
            </a:r>
            <a:r>
              <a:rPr lang="en-IN" sz="3200" dirty="0" err="1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GithubRepository</a:t>
            </a:r>
            <a:endParaRPr lang="en-US" sz="3200" dirty="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13" name="TextBox 13"/>
          <p:cNvSpPr txBox="1"/>
          <p:nvPr/>
        </p:nvSpPr>
        <p:spPr>
          <a:xfrm rot="10800000" flipV="1">
            <a:off x="1617781" y="96103"/>
            <a:ext cx="13113243" cy="1564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IN" sz="92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￼￼￼￼￼￼￼￼￼￼ </a:t>
            </a:r>
            <a:r>
              <a:rPr lang="en-US" sz="92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</a:t>
            </a:r>
            <a:r>
              <a:rPr lang="en-IN" sz="9200" b="1" dirty="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￼￼￼￼￼￼￼￼￼￼￼￼￼￼￼￼</a:t>
            </a:r>
            <a:endParaRPr lang="en-US" sz="9200" b="1" dirty="0">
              <a:solidFill>
                <a:srgbClr val="000000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30528-1A76-6D8B-0F34-D308B5FE852B}"/>
              </a:ext>
            </a:extLst>
          </p:cNvPr>
          <p:cNvSpPr txBox="1"/>
          <p:nvPr/>
        </p:nvSpPr>
        <p:spPr>
          <a:xfrm>
            <a:off x="5838976" y="-110261"/>
            <a:ext cx="9449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6000" b="1" dirty="0"/>
              <a:t>System Requirements</a:t>
            </a:r>
            <a:endParaRPr lang="en-US" sz="6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2" r="-156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6750" y="2457450"/>
            <a:ext cx="4010025" cy="7162800"/>
            <a:chOff x="0" y="0"/>
            <a:chExt cx="1056138" cy="18864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6138" cy="1886499"/>
            </a:xfrm>
            <a:custGeom>
              <a:avLst/>
              <a:gdLst/>
              <a:ahLst/>
              <a:cxnLst/>
              <a:rect l="l" t="t" r="r" b="b"/>
              <a:pathLst>
                <a:path w="1056138" h="1886499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847886"/>
                  </a:lnTo>
                  <a:cubicBezTo>
                    <a:pt x="1056138" y="1869211"/>
                    <a:pt x="1038851" y="1886499"/>
                    <a:pt x="1017525" y="1886499"/>
                  </a:cubicBezTo>
                  <a:lnTo>
                    <a:pt x="38613" y="1886499"/>
                  </a:lnTo>
                  <a:cubicBezTo>
                    <a:pt x="17288" y="1886499"/>
                    <a:pt x="0" y="1869211"/>
                    <a:pt x="0" y="1847886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chemeClr val="bg1">
                <a:lumMod val="90000"/>
              </a:scheme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56138" cy="19245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81575" y="2457450"/>
            <a:ext cx="4010025" cy="7162800"/>
            <a:chOff x="0" y="0"/>
            <a:chExt cx="1056138" cy="18864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6138" cy="1886499"/>
            </a:xfrm>
            <a:custGeom>
              <a:avLst/>
              <a:gdLst/>
              <a:ahLst/>
              <a:cxnLst/>
              <a:rect l="l" t="t" r="r" b="b"/>
              <a:pathLst>
                <a:path w="1056138" h="1886499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847886"/>
                  </a:lnTo>
                  <a:cubicBezTo>
                    <a:pt x="1056138" y="1869211"/>
                    <a:pt x="1038851" y="1886499"/>
                    <a:pt x="1017525" y="1886499"/>
                  </a:cubicBezTo>
                  <a:lnTo>
                    <a:pt x="38613" y="1886499"/>
                  </a:lnTo>
                  <a:cubicBezTo>
                    <a:pt x="17288" y="1886499"/>
                    <a:pt x="0" y="1869211"/>
                    <a:pt x="0" y="1847886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solidFill>
              <a:schemeClr val="bg1">
                <a:lumMod val="90000"/>
              </a:scheme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56138" cy="19245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2457450"/>
            <a:ext cx="4010025" cy="7162800"/>
            <a:chOff x="0" y="0"/>
            <a:chExt cx="1056138" cy="1886499"/>
          </a:xfrm>
          <a:solidFill>
            <a:schemeClr val="bg1">
              <a:lumMod val="90000"/>
            </a:schemeClr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6138" cy="1886499"/>
            </a:xfrm>
            <a:custGeom>
              <a:avLst/>
              <a:gdLst/>
              <a:ahLst/>
              <a:cxnLst/>
              <a:rect l="l" t="t" r="r" b="b"/>
              <a:pathLst>
                <a:path w="1056138" h="1886499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847886"/>
                  </a:lnTo>
                  <a:cubicBezTo>
                    <a:pt x="1056138" y="1869211"/>
                    <a:pt x="1038851" y="1886499"/>
                    <a:pt x="1017525" y="1886499"/>
                  </a:cubicBezTo>
                  <a:lnTo>
                    <a:pt x="38613" y="1886499"/>
                  </a:lnTo>
                  <a:cubicBezTo>
                    <a:pt x="17288" y="1886499"/>
                    <a:pt x="0" y="1869211"/>
                    <a:pt x="0" y="1847886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56138" cy="19245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2457450"/>
            <a:ext cx="4010025" cy="7162800"/>
            <a:chOff x="0" y="0"/>
            <a:chExt cx="1056138" cy="1886499"/>
          </a:xfrm>
          <a:solidFill>
            <a:schemeClr val="bg1">
              <a:lumMod val="90000"/>
            </a:schemeClr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6138" cy="1886499"/>
            </a:xfrm>
            <a:custGeom>
              <a:avLst/>
              <a:gdLst/>
              <a:ahLst/>
              <a:cxnLst/>
              <a:rect l="l" t="t" r="r" b="b"/>
              <a:pathLst>
                <a:path w="1056138" h="1886499">
                  <a:moveTo>
                    <a:pt x="38613" y="0"/>
                  </a:moveTo>
                  <a:lnTo>
                    <a:pt x="1017525" y="0"/>
                  </a:lnTo>
                  <a:cubicBezTo>
                    <a:pt x="1038851" y="0"/>
                    <a:pt x="1056138" y="17288"/>
                    <a:pt x="1056138" y="38613"/>
                  </a:cubicBezTo>
                  <a:lnTo>
                    <a:pt x="1056138" y="1847886"/>
                  </a:lnTo>
                  <a:cubicBezTo>
                    <a:pt x="1056138" y="1869211"/>
                    <a:pt x="1038851" y="1886499"/>
                    <a:pt x="1017525" y="1886499"/>
                  </a:cubicBezTo>
                  <a:lnTo>
                    <a:pt x="38613" y="1886499"/>
                  </a:lnTo>
                  <a:cubicBezTo>
                    <a:pt x="17288" y="1886499"/>
                    <a:pt x="0" y="1869211"/>
                    <a:pt x="0" y="1847886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grpFill/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56138" cy="192459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9296400" y="3574224"/>
            <a:ext cx="39533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6" name="AutoShape 16"/>
          <p:cNvSpPr/>
          <p:nvPr/>
        </p:nvSpPr>
        <p:spPr>
          <a:xfrm>
            <a:off x="13611225" y="3555174"/>
            <a:ext cx="4010025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7" name="AutoShape 17"/>
          <p:cNvSpPr/>
          <p:nvPr/>
        </p:nvSpPr>
        <p:spPr>
          <a:xfrm>
            <a:off x="4981575" y="3555174"/>
            <a:ext cx="40100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8" name="AutoShape 18"/>
          <p:cNvSpPr/>
          <p:nvPr/>
        </p:nvSpPr>
        <p:spPr>
          <a:xfrm flipV="1">
            <a:off x="666750" y="3555174"/>
            <a:ext cx="40100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9" name="Freeform 19"/>
          <p:cNvSpPr/>
          <p:nvPr/>
        </p:nvSpPr>
        <p:spPr>
          <a:xfrm>
            <a:off x="666750" y="6429375"/>
            <a:ext cx="4010025" cy="3190875"/>
          </a:xfrm>
          <a:custGeom>
            <a:avLst/>
            <a:gdLst/>
            <a:ahLst/>
            <a:cxnLst/>
            <a:rect l="l" t="t" r="r" b="b"/>
            <a:pathLst>
              <a:path w="4010025" h="3190875">
                <a:moveTo>
                  <a:pt x="0" y="0"/>
                </a:moveTo>
                <a:lnTo>
                  <a:pt x="4010025" y="0"/>
                </a:lnTo>
                <a:lnTo>
                  <a:pt x="4010025" y="3190875"/>
                </a:lnTo>
                <a:lnTo>
                  <a:pt x="0" y="3190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397" t="-2197" r="-17397" b="-7346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981575" y="6429375"/>
            <a:ext cx="4010025" cy="3190875"/>
          </a:xfrm>
          <a:custGeom>
            <a:avLst/>
            <a:gdLst/>
            <a:ahLst/>
            <a:cxnLst/>
            <a:rect l="l" t="t" r="r" b="b"/>
            <a:pathLst>
              <a:path w="4010025" h="3190875">
                <a:moveTo>
                  <a:pt x="0" y="0"/>
                </a:moveTo>
                <a:lnTo>
                  <a:pt x="4010025" y="0"/>
                </a:lnTo>
                <a:lnTo>
                  <a:pt x="4010025" y="3190875"/>
                </a:lnTo>
                <a:lnTo>
                  <a:pt x="0" y="3190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57" r="-23857" b="-1764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296400" y="6429375"/>
            <a:ext cx="4010025" cy="3190875"/>
          </a:xfrm>
          <a:custGeom>
            <a:avLst/>
            <a:gdLst/>
            <a:ahLst/>
            <a:cxnLst/>
            <a:rect l="l" t="t" r="r" b="b"/>
            <a:pathLst>
              <a:path w="4010025" h="3190875">
                <a:moveTo>
                  <a:pt x="0" y="0"/>
                </a:moveTo>
                <a:lnTo>
                  <a:pt x="4010025" y="0"/>
                </a:lnTo>
                <a:lnTo>
                  <a:pt x="4010025" y="3190875"/>
                </a:lnTo>
                <a:lnTo>
                  <a:pt x="0" y="3190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79" r="-9679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611225" y="6365704"/>
            <a:ext cx="3993133" cy="3254546"/>
          </a:xfrm>
          <a:custGeom>
            <a:avLst/>
            <a:gdLst/>
            <a:ahLst/>
            <a:cxnLst/>
            <a:rect l="l" t="t" r="r" b="b"/>
            <a:pathLst>
              <a:path w="3993133" h="3254546">
                <a:moveTo>
                  <a:pt x="0" y="0"/>
                </a:moveTo>
                <a:lnTo>
                  <a:pt x="3993133" y="0"/>
                </a:lnTo>
                <a:lnTo>
                  <a:pt x="3993133" y="3254546"/>
                </a:lnTo>
                <a:lnTo>
                  <a:pt x="0" y="3254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600" t="-27437" r="-53651" b="-2586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24782" y="2543175"/>
            <a:ext cx="309395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000000"/>
                </a:solidFill>
                <a:latin typeface="Alice Italics"/>
                <a:ea typeface="Alice Italics"/>
                <a:cs typeface="Alice Italics"/>
                <a:sym typeface="Alice Italics"/>
              </a:rPr>
              <a:t>SOS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22416" y="2577733"/>
            <a:ext cx="309395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i="1">
                <a:solidFill>
                  <a:srgbClr val="000000"/>
                </a:solidFill>
                <a:latin typeface="Alice Italics"/>
                <a:ea typeface="Alice Italics"/>
                <a:cs typeface="Alice Italics"/>
                <a:sym typeface="Alice Italics"/>
              </a:rPr>
              <a:t>ANTI-THEFT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05025" y="657225"/>
            <a:ext cx="140779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APP MODULES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4433" y="2391219"/>
            <a:ext cx="3093959" cy="116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000000"/>
                </a:solidFill>
                <a:latin typeface="Alice Italics"/>
                <a:ea typeface="Alice Italics"/>
                <a:cs typeface="Alice Italics"/>
                <a:sym typeface="Alice Italics"/>
              </a:rPr>
              <a:t>TACTICAL RADAR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80437" y="2348712"/>
            <a:ext cx="3093959" cy="123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IN" sz="3600" i="1" dirty="0">
                <a:solidFill>
                  <a:srgbClr val="000000"/>
                </a:solidFill>
                <a:latin typeface="Alice Italics"/>
                <a:ea typeface="Alice Italics"/>
                <a:cs typeface="Alice Italics"/>
                <a:sym typeface="Alice Italics"/>
              </a:rPr>
              <a:t>SMART DND OVER RIDE</a:t>
            </a:r>
            <a:endParaRPr lang="en-US" sz="3600" i="1" dirty="0">
              <a:solidFill>
                <a:srgbClr val="000000"/>
              </a:solidFill>
              <a:latin typeface="Alice Italics"/>
              <a:ea typeface="Alice Italics"/>
              <a:cs typeface="Alice Italics"/>
              <a:sym typeface="Alice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96898" y="3644295"/>
            <a:ext cx="3673060" cy="26631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IN" sz="2000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Offline tracking</a:t>
            </a:r>
          </a:p>
          <a:p>
            <a:pPr algn="ctr">
              <a:lnSpc>
                <a:spcPts val="2993"/>
              </a:lnSpc>
            </a:pPr>
            <a:endParaRPr lang="en-IN" sz="2000" i="1" dirty="0">
              <a:solidFill>
                <a:srgbClr val="000000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ctr">
              <a:lnSpc>
                <a:spcPts val="2993"/>
              </a:lnSpc>
            </a:pPr>
            <a:r>
              <a:rPr lang="en-IN" sz="2000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​Direct satellite GPS pinging</a:t>
            </a:r>
          </a:p>
          <a:p>
            <a:pPr algn="ctr">
              <a:lnSpc>
                <a:spcPts val="2993"/>
              </a:lnSpc>
            </a:pPr>
            <a:r>
              <a:rPr lang="en-IN" sz="2000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
​Dead-zone navigation</a:t>
            </a:r>
          </a:p>
          <a:p>
            <a:pPr algn="ctr">
              <a:lnSpc>
                <a:spcPts val="2993"/>
              </a:lnSpc>
            </a:pPr>
            <a:endParaRPr lang="en-IN" sz="2000" i="1" dirty="0">
              <a:solidFill>
                <a:srgbClr val="000000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ctr">
              <a:lnSpc>
                <a:spcPts val="2993"/>
              </a:lnSpc>
            </a:pPr>
            <a:r>
              <a:rPr lang="en-IN" sz="2000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Multi- zone maps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63282" y="3778275"/>
            <a:ext cx="3689017" cy="240341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IN" sz="2000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Auto reply to missed calls</a:t>
            </a:r>
          </a:p>
          <a:p>
            <a:pPr algn="ctr">
              <a:lnSpc>
                <a:spcPts val="2659"/>
              </a:lnSpc>
            </a:pPr>
            <a:r>
              <a:rPr lang="en-IN" sz="2000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
​Secret SMS code interception</a:t>
            </a:r>
          </a:p>
          <a:p>
            <a:pPr algn="ctr">
              <a:lnSpc>
                <a:spcPts val="2659"/>
              </a:lnSpc>
            </a:pPr>
            <a:r>
              <a:rPr lang="en-IN" sz="2000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
​Forces max-volume alarm bypass</a:t>
            </a:r>
            <a:endParaRPr lang="en-US" sz="2000" b="1" i="1" dirty="0">
              <a:solidFill>
                <a:srgbClr val="000000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2107E7-B1C6-AE6F-0155-0F3264DB03F8}"/>
              </a:ext>
            </a:extLst>
          </p:cNvPr>
          <p:cNvSpPr txBox="1"/>
          <p:nvPr/>
        </p:nvSpPr>
        <p:spPr>
          <a:xfrm>
            <a:off x="5069316" y="3699836"/>
            <a:ext cx="3834542" cy="26776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Wrong password combo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Pocket removal alarm</a:t>
            </a:r>
          </a:p>
          <a:p>
            <a:pPr algn="ctr"/>
            <a:r>
              <a:rPr lang="en-IN" sz="2400" b="1" dirty="0"/>
              <a:t>
​Charger disconnect siren</a:t>
            </a:r>
          </a:p>
          <a:p>
            <a:pPr algn="ctr"/>
            <a:r>
              <a:rPr lang="en-IN" sz="2400" b="1" dirty="0"/>
              <a:t>
​Silent trigger via secret code</a:t>
            </a:r>
            <a:endParaRPr lang="en-US" sz="2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26B33-AC20-5A4E-7462-78E9A7E3B5FF}"/>
              </a:ext>
            </a:extLst>
          </p:cNvPr>
          <p:cNvSpPr txBox="1"/>
          <p:nvPr/>
        </p:nvSpPr>
        <p:spPr>
          <a:xfrm>
            <a:off x="931687" y="3637139"/>
            <a:ext cx="3383138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i="1" dirty="0"/>
              <a:t>Auto-senses gravity changes</a:t>
            </a:r>
          </a:p>
          <a:p>
            <a:pPr algn="ctr"/>
            <a:r>
              <a:rPr lang="en-IN" sz="2400" b="1" i="1" dirty="0"/>
              <a:t>
​Instant impact detection</a:t>
            </a:r>
          </a:p>
          <a:p>
            <a:pPr algn="ctr"/>
            <a:r>
              <a:rPr lang="en-IN" sz="2400" b="1" i="1" dirty="0"/>
              <a:t>
​Triggers automated distress message</a:t>
            </a:r>
            <a:endParaRPr lang="en-US" sz="2400" b="1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F5202C60-9A2F-95BD-C8D5-845DC10B8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82" y="0"/>
            <a:ext cx="18329564" cy="10287000"/>
          </a:xfrm>
          <a:prstGeom prst="rect">
            <a:avLst/>
          </a:prstGeom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A840E04F-D0C5-46AC-7AC1-B4B055E45D55}"/>
              </a:ext>
            </a:extLst>
          </p:cNvPr>
          <p:cNvSpPr/>
          <p:nvPr/>
        </p:nvSpPr>
        <p:spPr>
          <a:xfrm>
            <a:off x="11095222" y="1442707"/>
            <a:ext cx="6949754" cy="8584603"/>
          </a:xfrm>
          <a:prstGeom prst="round2Diag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E9C891-1578-88A1-BCFD-F5AD7C18AC22}"/>
              </a:ext>
            </a:extLst>
          </p:cNvPr>
          <p:cNvSpPr txBox="1"/>
          <p:nvPr/>
        </p:nvSpPr>
        <p:spPr>
          <a:xfrm>
            <a:off x="11595491" y="7704950"/>
            <a:ext cx="6004892" cy="2123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Active Defence (Remote SMS override &amp; silent trigger activation)</a:t>
            </a:r>
            <a:endParaRPr lang="en-US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292C-C148-39D6-EB23-BA308AE28323}"/>
              </a:ext>
            </a:extLst>
          </p:cNvPr>
          <p:cNvSpPr txBox="1"/>
          <p:nvPr/>
        </p:nvSpPr>
        <p:spPr>
          <a:xfrm>
            <a:off x="11604373" y="5673232"/>
            <a:ext cx="58267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Offline Tactical Radar (Direct-satellite tracking without cell towers)</a:t>
            </a:r>
            <a:endParaRPr lang="en-US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3712A-BF6F-2898-4DB4-591209342078}"/>
              </a:ext>
            </a:extLst>
          </p:cNvPr>
          <p:cNvSpPr txBox="1"/>
          <p:nvPr/>
        </p:nvSpPr>
        <p:spPr>
          <a:xfrm>
            <a:off x="11583197" y="3611350"/>
            <a:ext cx="63527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Hardware Anti-Theft (Pocket removal &amp; charger disconnect alarms)</a:t>
            </a:r>
            <a:endParaRPr 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14551-5636-4693-3F12-C0828BA02575}"/>
              </a:ext>
            </a:extLst>
          </p:cNvPr>
          <p:cNvSpPr txBox="1"/>
          <p:nvPr/>
        </p:nvSpPr>
        <p:spPr>
          <a:xfrm>
            <a:off x="11604373" y="1631203"/>
            <a:ext cx="582678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​Autonomous SOS Trigger (Gravity-sensor impact detection)</a:t>
            </a:r>
            <a:endParaRPr lang="en-US" sz="4400" dirty="0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97E6C3F6-3170-408E-5284-73AD2BBAF3D9}"/>
              </a:ext>
            </a:extLst>
          </p:cNvPr>
          <p:cNvSpPr/>
          <p:nvPr/>
        </p:nvSpPr>
        <p:spPr>
          <a:xfrm flipH="1">
            <a:off x="525976" y="1442709"/>
            <a:ext cx="7303562" cy="8584602"/>
          </a:xfrm>
          <a:prstGeom prst="round2DiagRect">
            <a:avLst/>
          </a:prstGeom>
          <a:solidFill>
            <a:srgbClr val="FFC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8ED64-ED75-07FC-6E2A-F953AC034B8D}"/>
              </a:ext>
            </a:extLst>
          </p:cNvPr>
          <p:cNvSpPr txBox="1"/>
          <p:nvPr/>
        </p:nvSpPr>
        <p:spPr>
          <a:xfrm>
            <a:off x="1265569" y="1366503"/>
            <a:ext cx="56582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Manual SOS Activation (Requires user to physically unlock &amp; tap)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C1B53-7C8A-8102-0F08-6425032C467E}"/>
              </a:ext>
            </a:extLst>
          </p:cNvPr>
          <p:cNvSpPr txBox="1"/>
          <p:nvPr/>
        </p:nvSpPr>
        <p:spPr>
          <a:xfrm>
            <a:off x="1265569" y="3673645"/>
            <a:ext cx="62957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/>
              <a:t>Basic Security (Relies only on lock-screen passwords)</a:t>
            </a:r>
            <a:endParaRPr lang="en-US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83D0C-B214-56E9-A913-F162E31BB4DC}"/>
              </a:ext>
            </a:extLst>
          </p:cNvPr>
          <p:cNvSpPr txBox="1"/>
          <p:nvPr/>
        </p:nvSpPr>
        <p:spPr>
          <a:xfrm>
            <a:off x="1266361" y="5233322"/>
            <a:ext cx="60242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Internet-Dependent (Tracking fails without active mobile data)</a:t>
            </a:r>
            <a:endParaRPr lang="en-US" sz="4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60942-C231-679F-4265-4BD74DED7EEE}"/>
              </a:ext>
            </a:extLst>
          </p:cNvPr>
          <p:cNvSpPr txBox="1"/>
          <p:nvPr/>
        </p:nvSpPr>
        <p:spPr>
          <a:xfrm>
            <a:off x="1265569" y="7058005"/>
            <a:ext cx="61691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4400" dirty="0"/>
          </a:p>
          <a:p>
            <a:pPr algn="l"/>
            <a:r>
              <a:rPr lang="en-IN" sz="4400" dirty="0"/>
              <a:t> Static Communication (Only sends basic, one-time auto-replies)</a:t>
            </a:r>
            <a:endParaRPr lang="en-US" sz="4400" dirty="0"/>
          </a:p>
        </p:txBody>
      </p:sp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CA4FDE42-CE29-5477-0B27-E586B0634FDB}"/>
              </a:ext>
            </a:extLst>
          </p:cNvPr>
          <p:cNvSpPr/>
          <p:nvPr/>
        </p:nvSpPr>
        <p:spPr>
          <a:xfrm>
            <a:off x="8357464" y="8282147"/>
            <a:ext cx="1956816" cy="96926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Striped Right 27">
            <a:extLst>
              <a:ext uri="{FF2B5EF4-FFF2-40B4-BE49-F238E27FC236}">
                <a16:creationId xmlns:a16="http://schemas.microsoft.com/office/drawing/2014/main" id="{D80952C6-9EE0-82FF-6DE1-A0DDAE1216D4}"/>
              </a:ext>
            </a:extLst>
          </p:cNvPr>
          <p:cNvSpPr/>
          <p:nvPr/>
        </p:nvSpPr>
        <p:spPr>
          <a:xfrm>
            <a:off x="8376296" y="6075955"/>
            <a:ext cx="1956816" cy="96926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Striped Right 29">
            <a:extLst>
              <a:ext uri="{FF2B5EF4-FFF2-40B4-BE49-F238E27FC236}">
                <a16:creationId xmlns:a16="http://schemas.microsoft.com/office/drawing/2014/main" id="{275EC582-8C4F-55A4-CFF9-A4B0C30B9BCF}"/>
              </a:ext>
            </a:extLst>
          </p:cNvPr>
          <p:cNvSpPr/>
          <p:nvPr/>
        </p:nvSpPr>
        <p:spPr>
          <a:xfrm>
            <a:off x="8376296" y="4207364"/>
            <a:ext cx="1956816" cy="96926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Striped Right 31">
            <a:extLst>
              <a:ext uri="{FF2B5EF4-FFF2-40B4-BE49-F238E27FC236}">
                <a16:creationId xmlns:a16="http://schemas.microsoft.com/office/drawing/2014/main" id="{36D212F5-570C-C26E-193D-E1D20DE87D42}"/>
              </a:ext>
            </a:extLst>
          </p:cNvPr>
          <p:cNvSpPr/>
          <p:nvPr/>
        </p:nvSpPr>
        <p:spPr>
          <a:xfrm>
            <a:off x="8447944" y="2351226"/>
            <a:ext cx="1956816" cy="96926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0B5CA-78E4-DD47-A6AC-3A9CC7DE7B87}"/>
              </a:ext>
            </a:extLst>
          </p:cNvPr>
          <p:cNvSpPr txBox="1"/>
          <p:nvPr/>
        </p:nvSpPr>
        <p:spPr>
          <a:xfrm>
            <a:off x="708288" y="259689"/>
            <a:ext cx="6283445" cy="923330"/>
          </a:xfrm>
          <a:prstGeom prst="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400" dirty="0"/>
              <a:t>EXISTING Module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F7E4D-ED1B-8540-AF7D-75F104820730}"/>
              </a:ext>
            </a:extLst>
          </p:cNvPr>
          <p:cNvSpPr txBox="1"/>
          <p:nvPr/>
        </p:nvSpPr>
        <p:spPr>
          <a:xfrm>
            <a:off x="11474405" y="259689"/>
            <a:ext cx="6283445" cy="923330"/>
          </a:xfrm>
          <a:prstGeom prst="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400" dirty="0"/>
              <a:t>OUR Modules</a:t>
            </a:r>
            <a:endParaRPr lang="en-US" sz="5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847892-10D4-7F95-8639-64A4EFDA2B4F}"/>
              </a:ext>
            </a:extLst>
          </p:cNvPr>
          <p:cNvCxnSpPr>
            <a:cxnSpLocks/>
          </p:cNvCxnSpPr>
          <p:nvPr/>
        </p:nvCxnSpPr>
        <p:spPr>
          <a:xfrm>
            <a:off x="525976" y="3673645"/>
            <a:ext cx="7303562" cy="7620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0A1929-7A2B-9DEE-305C-3D29163D9F62}"/>
              </a:ext>
            </a:extLst>
          </p:cNvPr>
          <p:cNvCxnSpPr>
            <a:cxnSpLocks/>
          </p:cNvCxnSpPr>
          <p:nvPr/>
        </p:nvCxnSpPr>
        <p:spPr>
          <a:xfrm>
            <a:off x="525976" y="5227473"/>
            <a:ext cx="7303562" cy="7620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37E01F6-1987-8B65-BC09-C9F935FD4192}"/>
              </a:ext>
            </a:extLst>
          </p:cNvPr>
          <p:cNvCxnSpPr>
            <a:cxnSpLocks/>
          </p:cNvCxnSpPr>
          <p:nvPr/>
        </p:nvCxnSpPr>
        <p:spPr>
          <a:xfrm>
            <a:off x="508362" y="7569409"/>
            <a:ext cx="7303562" cy="7620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448C7E-CCA2-FBD3-D719-67F07AEC7AD1}"/>
              </a:ext>
            </a:extLst>
          </p:cNvPr>
          <p:cNvCxnSpPr>
            <a:cxnSpLocks/>
          </p:cNvCxnSpPr>
          <p:nvPr/>
        </p:nvCxnSpPr>
        <p:spPr>
          <a:xfrm>
            <a:off x="11087106" y="7766850"/>
            <a:ext cx="6957870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BD3B49C-9759-26C3-56E6-9DB019DA1D9E}"/>
              </a:ext>
            </a:extLst>
          </p:cNvPr>
          <p:cNvCxnSpPr>
            <a:cxnSpLocks/>
          </p:cNvCxnSpPr>
          <p:nvPr/>
        </p:nvCxnSpPr>
        <p:spPr>
          <a:xfrm>
            <a:off x="11119002" y="5673232"/>
            <a:ext cx="6957870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28D782-FB93-AFA8-2B15-F16BB6AB5CF4}"/>
              </a:ext>
            </a:extLst>
          </p:cNvPr>
          <p:cNvCxnSpPr>
            <a:cxnSpLocks/>
          </p:cNvCxnSpPr>
          <p:nvPr/>
        </p:nvCxnSpPr>
        <p:spPr>
          <a:xfrm>
            <a:off x="11087106" y="3712444"/>
            <a:ext cx="6957870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76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0489" y="0"/>
            <a:ext cx="18698489" cy="10287000"/>
          </a:xfrm>
          <a:custGeom>
            <a:avLst/>
            <a:gdLst/>
            <a:ahLst/>
            <a:cxnLst/>
            <a:rect l="l" t="t" r="r" b="b"/>
            <a:pathLst>
              <a:path w="18698489" h="10287000">
                <a:moveTo>
                  <a:pt x="0" y="0"/>
                </a:moveTo>
                <a:lnTo>
                  <a:pt x="18698489" y="0"/>
                </a:lnTo>
                <a:lnTo>
                  <a:pt x="186984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7" r="-109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877134" y="304289"/>
            <a:ext cx="10123241" cy="100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IN" sz="6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</a:t>
            </a:r>
            <a:endParaRPr lang="en-US" sz="6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03909" y="1721968"/>
            <a:ext cx="16747435" cy="814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4900"/>
              </a:lnSpc>
              <a:buAutoNum type="arabicParenR"/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Personal Safety &amp; Night Commuting:-  Provides instant SOS and    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auto-calling for women and high-risk transit workers,  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functioning even in dead zones.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
​2)  Vehicle Accident Response:- Acts as a digital first-responder; g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gravity sensors automatically dispatch coordinates if the user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is    unconscious.</a:t>
            </a:r>
          </a:p>
          <a:p>
            <a:pPr>
              <a:lnSpc>
                <a:spcPts val="4900"/>
              </a:lnSpc>
            </a:pPr>
            <a:endParaRPr lang="en-IN" sz="4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​3) Anti-Theft &amp; Asset Recovery:- Tracks stolen devices via remote    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SMS overrides, SIM-change alerts, and silent intruder logging.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
​4) Off-Grid Adventure &amp; Travel:- Gives trekkers and remote workers </a:t>
            </a:r>
          </a:p>
          <a:p>
            <a:pPr>
              <a:lnSpc>
                <a:spcPts val="4900"/>
              </a:lnSpc>
            </a:pPr>
            <a:r>
              <a:rPr lang="en-IN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a tactical offline radar for safe routing in zero-connectivity areas.</a:t>
            </a:r>
            <a:endParaRPr lang="en-US" sz="4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E8060821-C8C4-7715-3C17-A8C36ABA4A87}"/>
              </a:ext>
            </a:extLst>
          </p:cNvPr>
          <p:cNvSpPr/>
          <p:nvPr/>
        </p:nvSpPr>
        <p:spPr>
          <a:xfrm>
            <a:off x="-410491" y="-106832"/>
            <a:ext cx="1828800" cy="18288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A7B2D054-845F-EBE8-ECCA-B803B1C8D91B}"/>
              </a:ext>
            </a:extLst>
          </p:cNvPr>
          <p:cNvSpPr/>
          <p:nvPr/>
        </p:nvSpPr>
        <p:spPr>
          <a:xfrm rot="10800000">
            <a:off x="16459200" y="8448506"/>
            <a:ext cx="1828800" cy="18288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674118"/>
          </a:xfrm>
          <a:custGeom>
            <a:avLst/>
            <a:gdLst/>
            <a:ahLst/>
            <a:cxnLst/>
            <a:rect l="l" t="t" r="r" b="b"/>
            <a:pathLst>
              <a:path w="18288000" h="10674118">
                <a:moveTo>
                  <a:pt x="0" y="0"/>
                </a:moveTo>
                <a:lnTo>
                  <a:pt x="18288000" y="0"/>
                </a:lnTo>
                <a:lnTo>
                  <a:pt x="18288000" y="10674118"/>
                </a:lnTo>
                <a:lnTo>
                  <a:pt x="0" y="10674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58" r="-2295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32795" y="0"/>
            <a:ext cx="6564444" cy="100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1882" y="1095060"/>
            <a:ext cx="15197584" cy="919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 Input Layer: User manually hits SOS OR Gravity Sensor detects a crash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OR Unauthorized unlock attempt occurs.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​2) Processing Layer: The Java backend intercepts the trigger.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​Decision Branch: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​3)  If Offline: System utilizes Tactical Radar logic, executes remote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SMS overrides, and triggers local Auto-Call.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​4)  IfOnline: Pushes data to the Firebase Live Tracker and uploads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intruder photos to the Secure Evidence Vault.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5) Output Layer: Alerts reach designated contacts and the phone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goes into lockdown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CCC89602-2FFC-6CB8-0D2F-431D2ACDA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781589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EB65C2AA-58E1-38C8-E9FF-CCFF08131428}"/>
              </a:ext>
            </a:extLst>
          </p:cNvPr>
          <p:cNvSpPr/>
          <p:nvPr/>
        </p:nvSpPr>
        <p:spPr>
          <a:xfrm rot="10800000">
            <a:off x="6370191" y="306430"/>
            <a:ext cx="5213074" cy="1709530"/>
          </a:xfrm>
          <a:prstGeom prst="upArrowCallout">
            <a:avLst>
              <a:gd name="adj1" fmla="val 25000"/>
              <a:gd name="adj2" fmla="val 25000"/>
              <a:gd name="adj3" fmla="val 23641"/>
              <a:gd name="adj4" fmla="val 6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-10391"/>
            <a:ext cx="18288000" cy="10307782"/>
          </a:xfrm>
          <a:custGeom>
            <a:avLst/>
            <a:gdLst/>
            <a:ahLst/>
            <a:cxnLst/>
            <a:rect l="l" t="t" r="r" b="b"/>
            <a:pathLst>
              <a:path w="18288000" h="10307782">
                <a:moveTo>
                  <a:pt x="0" y="0"/>
                </a:moveTo>
                <a:lnTo>
                  <a:pt x="18288000" y="0"/>
                </a:lnTo>
                <a:lnTo>
                  <a:pt x="18288000" y="10307782"/>
                </a:lnTo>
                <a:lnTo>
                  <a:pt x="0" y="10307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/>
            </a:stretch>
          </a:blipFill>
          <a:ln w="38100" cap="sq">
            <a:solidFill>
              <a:srgbClr val="FF5757">
                <a:alpha val="77647"/>
              </a:srgbClr>
            </a:solidFill>
            <a:prstDash val="sysDot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6583487" y="530307"/>
            <a:ext cx="4786482" cy="815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DRAWBACKS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0586" y="2332781"/>
            <a:ext cx="16374717" cy="697774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​1) </a:t>
            </a:r>
            <a:r>
              <a:rPr lang="en-IN" sz="3200" b="1" i="1" dirty="0" err="1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Sideloading</a:t>
            </a: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&amp; Trust Barrier: Not on Play Store; requires users to manually allow </a:t>
            </a:r>
          </a:p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      “Unknown Sources.”
​2) Complex Uninstallation: “Device Admin” rights block thieves, but make removal </a:t>
            </a:r>
          </a:p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         harder for actual users.
​3) Hardware Override Vulnerability: Software cannot prevent a forced physical </a:t>
            </a:r>
          </a:p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      shutdown (15-second power hold).
​4) Third-Party Quotas: Bound by TRAI regulations (100 SMS/day limit) and Gmail  </a:t>
            </a:r>
          </a:p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        spam  filters.
​5) High Resource Consumption: Continuous background GPS polling for “Ghost </a:t>
            </a:r>
          </a:p>
          <a:p>
            <a:pPr algn="just">
              <a:lnSpc>
                <a:spcPts val="5459"/>
              </a:lnSpc>
            </a:pPr>
            <a:r>
              <a:rPr lang="en-IN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       Tracking” drains battery life.</a:t>
            </a:r>
            <a:r>
              <a:rPr lang="en-US" sz="3200" b="1" i="1" dirty="0">
                <a:solidFill>
                  <a:srgbClr val="002060"/>
                </a:solidFill>
                <a:latin typeface="Alice"/>
                <a:ea typeface="Alice"/>
                <a:cs typeface="Alice"/>
                <a:sym typeface="Alice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" t="-1512" r="-57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95717" y="136572"/>
            <a:ext cx="8274847" cy="922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Expectations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9566" y="1325490"/>
            <a:ext cx="17691869" cy="857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--&gt; Direct Emergency Dispatch: Automated routing of distress calls and exact GPS 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coordinates directly to local law </a:t>
            </a:r>
            <a:r>
              <a:rPr lang="en-US" sz="3399" dirty="0" err="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enforcement,medical</a:t>
            </a: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services and firefighters services  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​--&gt;Zero-Internet Voice Assistant: A fully offline, localized voice command module to </a:t>
            </a:r>
            <a:r>
              <a:rPr lang="en-IN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trigger </a:t>
            </a: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SOS protocols completely hands-free.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​--&gt;Wearable Tech Integration: Synchronizing with smartwatches to allow discreet, 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one-tap SOS triggering without needing to physically touch the phone.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​--&gt;Hardware-Level Integration: Partnering with mobile manufacturers to embed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 a dedicated Bluetooth Low Energy (BLE) tracker powered by a reserve battery.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Alice Bold"/>
              <a:ea typeface="Alice Bold"/>
              <a:cs typeface="Alice Bold"/>
              <a:sym typeface="Alice Bold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--&gt;​Ecosystem Expansion: Developing a Swift-based version for iOS devices,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as for now it is only developed and testing are going for  Android operating systems</a:t>
            </a:r>
          </a:p>
        </p:txBody>
      </p:sp>
      <p:sp>
        <p:nvSpPr>
          <p:cNvPr id="5" name="AutoShape 5"/>
          <p:cNvSpPr/>
          <p:nvPr/>
        </p:nvSpPr>
        <p:spPr>
          <a:xfrm>
            <a:off x="-73265" y="1325490"/>
            <a:ext cx="1836126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63273" y="99377"/>
            <a:ext cx="10361454" cy="166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i="1" u="sng">
                <a:gradFill>
                  <a:gsLst>
                    <a:gs pos="0">
                      <a:srgbClr val="FF0303">
                        <a:alpha val="100000"/>
                      </a:srgbClr>
                    </a:gs>
                    <a:gs pos="100000">
                      <a:srgbClr val="FF00B8">
                        <a:alpha val="100000"/>
                      </a:srgbClr>
                    </a:gs>
                  </a:gsLst>
                  <a:lin ang="2700000"/>
                </a:gradFill>
                <a:latin typeface="Alice Bold Italics"/>
                <a:ea typeface="Alice Bold Italics"/>
                <a:cs typeface="Alice Bold Italics"/>
                <a:sym typeface="Alice Bold Italics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E9F86-76AB-FF3A-2608-A5EC0F357835}"/>
              </a:ext>
            </a:extLst>
          </p:cNvPr>
          <p:cNvSpPr txBox="1"/>
          <p:nvPr/>
        </p:nvSpPr>
        <p:spPr>
          <a:xfrm>
            <a:off x="1416326" y="2256998"/>
            <a:ext cx="16002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​1) Active, Not Passive: Upgrades standard, manual SOS buttons into </a:t>
            </a:r>
          </a:p>
          <a:p>
            <a:pPr algn="l"/>
            <a:r>
              <a:rPr lang="en-IN" sz="4400" dirty="0"/>
              <a:t>       an aggressive, autonomous </a:t>
            </a:r>
            <a:r>
              <a:rPr lang="en-IN" sz="4400" dirty="0" err="1"/>
              <a:t>defense</a:t>
            </a:r>
            <a:r>
              <a:rPr lang="en-IN" sz="4400" dirty="0"/>
              <a:t> system.</a:t>
            </a:r>
          </a:p>
          <a:p>
            <a:pPr algn="l"/>
            <a:r>
              <a:rPr lang="en-IN" sz="4400" dirty="0"/>
              <a:t>
​2) Offline-First Survival: Guarantees tracking and data rescue in dead  </a:t>
            </a:r>
          </a:p>
          <a:p>
            <a:pPr algn="l"/>
            <a:r>
              <a:rPr lang="en-IN" sz="4400" dirty="0"/>
              <a:t>       zones using native SMS networks.</a:t>
            </a:r>
          </a:p>
          <a:p>
            <a:pPr algn="l"/>
            <a:r>
              <a:rPr lang="en-IN" sz="4400" dirty="0"/>
              <a:t>
​3) Outsmarts Thieves: Deploys psychological traps (like Fake Switch-</a:t>
            </a:r>
          </a:p>
          <a:p>
            <a:pPr algn="l"/>
            <a:r>
              <a:rPr lang="en-IN" sz="4400" dirty="0"/>
              <a:t>        Off) to defeat physical theft and SIM-swapping.</a:t>
            </a:r>
          </a:p>
          <a:p>
            <a:pPr algn="l"/>
            <a:endParaRPr lang="en-IN" sz="4400" dirty="0"/>
          </a:p>
          <a:p>
            <a:pPr algn="l"/>
            <a:r>
              <a:rPr lang="en-IN" sz="4400" dirty="0"/>
              <a:t>​4) The Ultimate Failsafe: Transforms an everyday smartphone into a </a:t>
            </a:r>
          </a:p>
          <a:p>
            <a:pPr algn="l"/>
            <a:r>
              <a:rPr lang="en-IN" sz="4400" dirty="0"/>
              <a:t>         tactical, off-grid lifeline when standard apps fail.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SEMESTER</dc:title>
  <cp:lastModifiedBy>kumarsjaya141@gmail.com</cp:lastModifiedBy>
  <cp:revision>14</cp:revision>
  <dcterms:created xsi:type="dcterms:W3CDTF">2006-08-16T00:00:00Z</dcterms:created>
  <dcterms:modified xsi:type="dcterms:W3CDTF">2026-04-14T14:42:25Z</dcterms:modified>
  <dc:identifier>DAHGntM9NK8</dc:identifier>
</cp:coreProperties>
</file>